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55" r:id="rId1"/>
  </p:sldMasterIdLst>
  <p:notesMasterIdLst>
    <p:notesMasterId r:id="rId19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557" autoAdjust="0"/>
  </p:normalViewPr>
  <p:slideViewPr>
    <p:cSldViewPr snapToGrid="0">
      <p:cViewPr>
        <p:scale>
          <a:sx n="75" d="100"/>
          <a:sy n="75" d="100"/>
        </p:scale>
        <p:origin x="735" y="20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15B448-4451-4BDF-A9D7-B85B8D97CB53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9D799F-BBDA-4715-98DF-D014413E23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9315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9D799F-BBDA-4715-98DF-D014413E2332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50391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67244-B28E-DF80-403C-D3A6A61136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05FE80-D65D-4232-5178-1E57C35C2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8054A-DDE6-2B37-6E69-C0855F93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76F8B9-51B2-4868-764C-F889BBF85B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284C28-81E2-72FF-B00B-B2874A94B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32591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A0809-9D01-3BFF-D233-ACDEAE981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2E6BB-0AA8-01DC-81D9-2F9625CAD1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D58858-39C5-0CD0-0848-323F3AA7C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B61AE2-865D-041A-F18A-4987E27B8C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89D184-95FF-8264-0003-286192798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3874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D61DC8-8E9C-CAE8-FF1B-D6BB64975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3609F5-A0C2-1E15-605D-7F22024F2B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237D3B-55B7-CFDD-4F3A-7EA782B14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31B6F3-C80C-EBE9-EB19-9E2CD9465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9FFC1B-3BC3-CA95-5895-404B419DD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6953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88ADB-0DDA-B722-18AB-E6E388F84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4D27B-D810-2E65-3779-C01F9FF9B3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77AD68-C10A-1E75-A235-C716C9BB4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2A16F1-1109-9A60-5909-769785F5AB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FF550-C8BD-2B06-3DE9-D0239BC305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35EAA-E13D-BAFA-3C2C-8D535A1992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179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772905-76CF-4698-D026-A938139D9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1E2AD-D6D7-F86D-3E81-22F2FE2ED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20B169-A442-902F-1C8F-41A86D4A04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FDE0BA-6285-F869-0329-0B2F1EA448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69275E3-97AD-9461-384E-023AB8FE39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30130F-08E7-0CA4-0508-9FF361143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9951D5-D051-84DD-E8DC-7C8DDE123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44EE32-F4A8-5B1E-D8B5-C067D8755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4140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AE7CD0-EEBD-3782-15CF-005A81915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2A6F9D5-DDD1-2BC9-FE49-62674F32C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21FCBB-706C-59E2-B18B-27F829336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AD3A6E-468E-2F4C-3A23-353FEA1548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209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DF1DAA5-392B-CAF3-3FD7-2D3787DD1C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972AFC-4039-367A-AB1B-2F730A9DC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3E0D79-C0FF-88D1-5887-06E498FF4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74058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E348D-E17E-2430-3F24-A4960C08E6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259053-ED5B-35A8-743D-97C9774925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6740FF-4196-7845-B7B7-4FECB6CBDA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8C8315-6AD1-B6EF-7AEF-3BB1D862D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8B1A2-A324-98DC-6F2B-83181BF73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A591FF-13B7-C445-E583-2A4C0BBDD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074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0E289-7C12-0703-AF49-8A4831F6E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043A1A-10AF-86DE-0BD3-CE5F17045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F3A8C0-C729-ACBD-A51D-C3954DC7D8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A61997-3379-C2A4-0801-A06E45D01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5E823-FE76-0C46-67E8-7FB07A885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41DBB-F9B1-94E1-70B6-4947E6257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5698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71368-9B93-D1B7-4000-166E4C8007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EE96E9-55FB-A172-4D88-C0D739984A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0C2D06-65B3-A75E-0732-4E97A6D60C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877610-F093-A9FF-ADE3-1C23CC8D4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8941D-09FC-C00B-4D4E-785FC1F2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2536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624EA6-5F40-F5E9-177F-B14D24CCC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09BD95-5CF7-AB86-3507-F59184047E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48591-47EA-89E6-7E67-9FDB7A4EC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EFB89-7C96-8BEB-E2C9-D133CDB1D7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708CC8-3343-29DE-679C-8708D24C7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527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C8EEEB-F356-899B-E188-EA4B0D808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2F603B-DFD6-058A-323D-7114DD309A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CC7A4-FB39-CD9E-7D4A-3B3428B5C4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88C30-E161-41C0-907D-E2779FE76FB8}" type="datetimeFigureOut">
              <a:rPr lang="en-IN" smtClean="0"/>
              <a:t>09-02-2026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2B6EF6-8BC6-4A6D-ED20-3F6A766005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10CC0C-795F-738D-4853-BD82FC4D57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1F81CD-931C-4EA7-9974-203138D4C0E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53568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6" r:id="rId1"/>
    <p:sldLayoutId id="2147484057" r:id="rId2"/>
    <p:sldLayoutId id="2147484058" r:id="rId3"/>
    <p:sldLayoutId id="2147484059" r:id="rId4"/>
    <p:sldLayoutId id="2147484060" r:id="rId5"/>
    <p:sldLayoutId id="2147484061" r:id="rId6"/>
    <p:sldLayoutId id="2147484062" r:id="rId7"/>
    <p:sldLayoutId id="2147484063" r:id="rId8"/>
    <p:sldLayoutId id="2147484064" r:id="rId9"/>
    <p:sldLayoutId id="2147484065" r:id="rId10"/>
    <p:sldLayoutId id="2147484066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83559-DCE9-E539-A768-40306E8FD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5396" y="244548"/>
            <a:ext cx="9232604" cy="2232837"/>
          </a:xfrm>
        </p:spPr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tx1"/>
                </a:solidFill>
                <a:latin typeface="Algerian" panose="04020705040A02060702" pitchFamily="82" charset="0"/>
              </a:rPr>
              <a:t>Patients</a:t>
            </a:r>
            <a:r>
              <a:rPr lang="en-US" sz="4400" dirty="0">
                <a:solidFill>
                  <a:schemeClr val="tx1"/>
                </a:solidFill>
              </a:rPr>
              <a:t> </a:t>
            </a:r>
            <a:r>
              <a:rPr lang="en-US" sz="4400" dirty="0">
                <a:solidFill>
                  <a:schemeClr val="tx1"/>
                </a:solidFill>
                <a:latin typeface="Algerian" panose="04020705040A02060702" pitchFamily="82" charset="0"/>
              </a:rPr>
              <a:t>condition Classification using drugs reviews</a:t>
            </a:r>
            <a:br>
              <a:rPr lang="en-US" sz="4400" dirty="0">
                <a:solidFill>
                  <a:schemeClr val="tx1"/>
                </a:solidFill>
                <a:latin typeface="Algerian" panose="04020705040A02060702" pitchFamily="82" charset="0"/>
              </a:rPr>
            </a:br>
            <a:r>
              <a:rPr lang="en-US" sz="4400" dirty="0">
                <a:solidFill>
                  <a:schemeClr val="tx1"/>
                </a:solidFill>
                <a:latin typeface="Algerian" panose="04020705040A02060702" pitchFamily="82" charset="0"/>
              </a:rPr>
              <a:t>(NLP Project)</a:t>
            </a:r>
            <a:endParaRPr lang="en-IN" sz="4400" dirty="0">
              <a:solidFill>
                <a:schemeClr val="tx1"/>
              </a:solidFill>
              <a:latin typeface="Algerian" panose="04020705040A02060702" pitchFamily="8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5C636D8-568F-88F4-DEC7-0BA425C80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3013" y="3115339"/>
            <a:ext cx="4490583" cy="30416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E8C4263-643E-99EB-FF47-96671F30F0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450" y="3115338"/>
            <a:ext cx="4633913" cy="304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197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54C2F-1011-3C09-724D-8ED21AF26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1720" y="365125"/>
            <a:ext cx="9812079" cy="1325563"/>
          </a:xfrm>
        </p:spPr>
        <p:txBody>
          <a:bodyPr/>
          <a:lstStyle/>
          <a:p>
            <a:r>
              <a:rPr lang="en-US" b="1" dirty="0">
                <a:latin typeface="+mn-lt"/>
              </a:rPr>
              <a:t>Groups Members and Mentors Name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3FD0A1-9EB6-5526-7033-76AFBF2CC7A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Groups Members Names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   </a:t>
            </a:r>
            <a:endParaRPr lang="en-IN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3594AB-F357-755F-42F7-B411415AB6A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Mentors Name</a:t>
            </a:r>
          </a:p>
          <a:p>
            <a:pPr marL="0" indent="0">
              <a:buNone/>
            </a:pPr>
            <a:r>
              <a:rPr lang="en-IN" sz="2400" dirty="0"/>
              <a:t>    Mentor – </a:t>
            </a:r>
          </a:p>
          <a:p>
            <a:pPr marL="0" indent="0">
              <a:buNone/>
            </a:pPr>
            <a:r>
              <a:rPr lang="en-IN" sz="2400" dirty="0"/>
              <a:t>    Co Mentor -</a:t>
            </a:r>
          </a:p>
        </p:txBody>
      </p:sp>
    </p:spTree>
    <p:extLst>
      <p:ext uri="{BB962C8B-B14F-4D97-AF65-F5344CB8AC3E}">
        <p14:creationId xmlns:p14="http://schemas.microsoft.com/office/powerpoint/2010/main" val="271429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70926-DDCA-A23B-B1B3-E6E582F20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62177" y="148856"/>
            <a:ext cx="8291622" cy="1127051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Problem </a:t>
            </a:r>
            <a:r>
              <a:rPr lang="en-US" b="1" dirty="0" err="1">
                <a:latin typeface="+mn-lt"/>
              </a:rPr>
              <a:t>Statememt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5E119-FDA4-DCD2-495E-95ED94CD0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75907"/>
            <a:ext cx="10515600" cy="4901056"/>
          </a:xfrm>
        </p:spPr>
        <p:txBody>
          <a:bodyPr>
            <a:normAutofit/>
          </a:bodyPr>
          <a:lstStyle/>
          <a:p>
            <a:r>
              <a:rPr lang="en-US" sz="2000" dirty="0"/>
              <a:t>Large volumes of patient drug reviews are available in textual format.</a:t>
            </a:r>
          </a:p>
          <a:p>
            <a:r>
              <a:rPr lang="en-US" sz="2000" dirty="0"/>
              <a:t>Manual analysis of these reviews to identify patient conditions is difficult and time-consuming.</a:t>
            </a:r>
          </a:p>
          <a:p>
            <a:r>
              <a:rPr lang="en-US" sz="2000" dirty="0"/>
              <a:t>There is a need for an automated system to analyze patient reviews efficiently.</a:t>
            </a:r>
          </a:p>
          <a:p>
            <a:r>
              <a:rPr lang="en-US" sz="2000" dirty="0"/>
              <a:t>Use Natural Language Processing (NLP) techniques to process review text.</a:t>
            </a:r>
          </a:p>
          <a:p>
            <a:r>
              <a:rPr lang="en-US" sz="2000" dirty="0"/>
              <a:t>Develop a machine learning model to classify patient conditions based on reviews.</a:t>
            </a:r>
          </a:p>
          <a:p>
            <a:r>
              <a:rPr lang="en-US" sz="2000" dirty="0"/>
              <a:t>Focus on classification of Depression, High Blood Pressure, and Type-2 Diabetes.</a:t>
            </a:r>
          </a:p>
          <a:p>
            <a:r>
              <a:rPr lang="en-US" sz="2000" dirty="0"/>
              <a:t>Deploy the trained model as a web application for practical usage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813075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4672FE-3707-6881-BD45-3EAD86911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3684" y="365126"/>
            <a:ext cx="7930116" cy="868252"/>
          </a:xfrm>
        </p:spPr>
        <p:txBody>
          <a:bodyPr/>
          <a:lstStyle/>
          <a:p>
            <a:r>
              <a:rPr lang="en-US" b="1" dirty="0">
                <a:latin typeface="+mn-lt"/>
              </a:rPr>
              <a:t>Project Objectives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D28D32-239A-D44E-42BC-EB273B17F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437"/>
            <a:ext cx="10515600" cy="485852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Primary Objective</a:t>
            </a:r>
          </a:p>
          <a:p>
            <a:r>
              <a:rPr lang="en-US" sz="2000" dirty="0"/>
              <a:t>To develop an NLP-based machine learning model that analyzes patient drug reviews and accurately classifies the patient’s condition (Depression, High Blood Pressure, Type-2 Diabetes).</a:t>
            </a:r>
          </a:p>
          <a:p>
            <a:r>
              <a:rPr lang="en-US" sz="2400" dirty="0">
                <a:solidFill>
                  <a:schemeClr val="accent2"/>
                </a:solidFill>
              </a:rPr>
              <a:t>Secondary Objectives</a:t>
            </a:r>
          </a:p>
          <a:p>
            <a:r>
              <a:rPr lang="en-US" sz="2000" dirty="0"/>
              <a:t>To preprocess and clean textual review data for analysis.</a:t>
            </a:r>
          </a:p>
          <a:p>
            <a:r>
              <a:rPr lang="en-US" sz="2000" dirty="0"/>
              <a:t>To perform Exploratory Data Analysis (EDA) to understand data patterns.</a:t>
            </a:r>
          </a:p>
          <a:p>
            <a:r>
              <a:rPr lang="en-US" sz="2000" dirty="0"/>
              <a:t>To apply feature extraction techniques such as TF-IDF.</a:t>
            </a:r>
          </a:p>
          <a:p>
            <a:r>
              <a:rPr lang="en-US" sz="2000" dirty="0"/>
              <a:t>To train and evaluate different classification algorithms.</a:t>
            </a:r>
          </a:p>
          <a:p>
            <a:r>
              <a:rPr lang="en-US" sz="2000" dirty="0"/>
              <a:t>To deploy the final model using Flask/</a:t>
            </a:r>
            <a:r>
              <a:rPr lang="en-US" sz="2000" dirty="0" err="1"/>
              <a:t>Streamlit</a:t>
            </a:r>
            <a:r>
              <a:rPr lang="en-US" sz="2000" dirty="0"/>
              <a:t> for real-time prediction.</a:t>
            </a:r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2665497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E3BED-AABE-7B43-0690-DC8795800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6092" y="233916"/>
            <a:ext cx="8057707" cy="956932"/>
          </a:xfrm>
        </p:spPr>
        <p:txBody>
          <a:bodyPr/>
          <a:lstStyle/>
          <a:p>
            <a:r>
              <a:rPr lang="en-US" b="1" dirty="0">
                <a:latin typeface="+mn-lt"/>
              </a:rPr>
              <a:t>Dataset Overview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3314F0-E483-FDEE-C38B-A26FE10E88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350334"/>
            <a:ext cx="5181600" cy="501856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Dataset Descriptions</a:t>
            </a:r>
          </a:p>
          <a:p>
            <a:r>
              <a:rPr lang="en-US" sz="2000" dirty="0"/>
              <a:t>The dataset used in this project consists of patient drug reviews collected from an online drug review platform.</a:t>
            </a:r>
          </a:p>
          <a:p>
            <a:r>
              <a:rPr lang="en-US" sz="2000" dirty="0"/>
              <a:t> It contains both structured and unstructured data, making it suitable for Natural Language Processing tasks.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</a:rPr>
              <a:t>Dataset Details</a:t>
            </a:r>
          </a:p>
          <a:p>
            <a:r>
              <a:rPr lang="en-US" sz="2000" dirty="0"/>
              <a:t>Total Records: 161,297</a:t>
            </a:r>
          </a:p>
          <a:p>
            <a:r>
              <a:rPr lang="en-US" sz="2000" dirty="0"/>
              <a:t>Data Type: Text + Numerical</a:t>
            </a:r>
          </a:p>
          <a:p>
            <a:r>
              <a:rPr lang="en-US" sz="2000" dirty="0"/>
              <a:t>Domain: Healthcare / Medical Reviews</a:t>
            </a:r>
            <a:endParaRPr lang="en-IN" sz="20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DC0562E-A44E-69A0-F3D6-E0B622654210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743329737"/>
              </p:ext>
            </p:extLst>
          </p:nvPr>
        </p:nvGraphicFramePr>
        <p:xfrm>
          <a:off x="6379535" y="1350334"/>
          <a:ext cx="5192230" cy="51879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1430">
                  <a:extLst>
                    <a:ext uri="{9D8B030D-6E8A-4147-A177-3AD203B41FA5}">
                      <a16:colId xmlns:a16="http://schemas.microsoft.com/office/drawing/2014/main" val="3617709134"/>
                    </a:ext>
                  </a:extLst>
                </a:gridCol>
                <a:gridCol w="2590800">
                  <a:extLst>
                    <a:ext uri="{9D8B030D-6E8A-4147-A177-3AD203B41FA5}">
                      <a16:colId xmlns:a16="http://schemas.microsoft.com/office/drawing/2014/main" val="2139137038"/>
                    </a:ext>
                  </a:extLst>
                </a:gridCol>
              </a:tblGrid>
              <a:tr h="836428">
                <a:tc>
                  <a:txBody>
                    <a:bodyPr/>
                    <a:lstStyle/>
                    <a:p>
                      <a:r>
                        <a:rPr lang="en-US" sz="2400" dirty="0"/>
                        <a:t>Columns Names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Description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2755833"/>
                  </a:ext>
                </a:extLst>
              </a:tr>
              <a:tr h="836428">
                <a:tc>
                  <a:txBody>
                    <a:bodyPr/>
                    <a:lstStyle/>
                    <a:p>
                      <a:r>
                        <a:rPr lang="en-US" sz="2000" dirty="0" err="1"/>
                        <a:t>drugName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Name of the prescribed drug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8394120"/>
                  </a:ext>
                </a:extLst>
              </a:tr>
              <a:tr h="836428">
                <a:tc>
                  <a:txBody>
                    <a:bodyPr/>
                    <a:lstStyle/>
                    <a:p>
                      <a:r>
                        <a:rPr lang="en-US" sz="2000" dirty="0"/>
                        <a:t>condition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Medical condition of the patient (Target Variable)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653731"/>
                  </a:ext>
                </a:extLst>
              </a:tr>
              <a:tr h="836428">
                <a:tc>
                  <a:txBody>
                    <a:bodyPr/>
                    <a:lstStyle/>
                    <a:p>
                      <a:r>
                        <a:rPr lang="en-US" sz="2000" dirty="0"/>
                        <a:t>review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Patient’s textual drug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106934"/>
                  </a:ext>
                </a:extLst>
              </a:tr>
              <a:tr h="836428">
                <a:tc>
                  <a:txBody>
                    <a:bodyPr/>
                    <a:lstStyle/>
                    <a:p>
                      <a:r>
                        <a:rPr lang="en-US" sz="2000" dirty="0"/>
                        <a:t>rating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Rating given by the patient (1–10)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4910914"/>
                  </a:ext>
                </a:extLst>
              </a:tr>
              <a:tr h="836428">
                <a:tc>
                  <a:txBody>
                    <a:bodyPr/>
                    <a:lstStyle/>
                    <a:p>
                      <a:r>
                        <a:rPr lang="en-US" sz="2000" dirty="0"/>
                        <a:t>date</a:t>
                      </a:r>
                      <a:endParaRPr lang="en-IN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Date when the review was posted</a:t>
                      </a:r>
                      <a:endParaRPr lang="en-IN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773919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62209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A14B-14FF-472A-DD6C-A66188E88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1032" y="138223"/>
            <a:ext cx="8142767" cy="435936"/>
          </a:xfrm>
        </p:spPr>
        <p:txBody>
          <a:bodyPr>
            <a:normAutofit fontScale="90000"/>
          </a:bodyPr>
          <a:lstStyle/>
          <a:p>
            <a:r>
              <a:rPr lang="en-US" b="1" dirty="0">
                <a:latin typeface="+mn-lt"/>
              </a:rPr>
              <a:t>Data Preprocessing</a:t>
            </a: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30C62-4200-FCFA-E9FD-9770804DFC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219" y="765545"/>
            <a:ext cx="11132288" cy="60924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000" dirty="0"/>
          </a:p>
          <a:p>
            <a:r>
              <a:rPr lang="en-US" sz="2400" dirty="0">
                <a:solidFill>
                  <a:schemeClr val="accent2"/>
                </a:solidFill>
              </a:rPr>
              <a:t>Preprocessing Step Performed</a:t>
            </a:r>
          </a:p>
          <a:p>
            <a:r>
              <a:rPr lang="en-US" sz="2000" dirty="0"/>
              <a:t>Removed missing and duplicate records.</a:t>
            </a:r>
          </a:p>
          <a:p>
            <a:r>
              <a:rPr lang="en-US" sz="2000" dirty="0"/>
              <a:t>Selected required conditions (Depression, High Blood Pressure, Type-2 Diabetes).</a:t>
            </a:r>
          </a:p>
          <a:p>
            <a:r>
              <a:rPr lang="en-US" sz="2000" dirty="0"/>
              <a:t>Converted text data into lowercase format.</a:t>
            </a:r>
          </a:p>
          <a:p>
            <a:r>
              <a:rPr lang="en-US" sz="2000" dirty="0"/>
              <a:t>Removed punctuation, numbers, and special characters.</a:t>
            </a:r>
          </a:p>
          <a:p>
            <a:r>
              <a:rPr lang="en-US" sz="2000" dirty="0"/>
              <a:t>Removed </a:t>
            </a:r>
            <a:r>
              <a:rPr lang="en-US" sz="2000" dirty="0" err="1"/>
              <a:t>stopwords</a:t>
            </a:r>
            <a:r>
              <a:rPr lang="en-US" sz="2000" dirty="0"/>
              <a:t> (common words like is, the, and).</a:t>
            </a:r>
          </a:p>
          <a:p>
            <a:r>
              <a:rPr lang="en-US" sz="2000" dirty="0"/>
              <a:t>Applied tokenization to split text into words.</a:t>
            </a:r>
          </a:p>
          <a:p>
            <a:r>
              <a:rPr lang="en-US" sz="2000" dirty="0"/>
              <a:t>Performed stemming/lemmatization to reduce words to root form.</a:t>
            </a:r>
          </a:p>
          <a:p>
            <a:r>
              <a:rPr lang="en-US" sz="2000" dirty="0"/>
              <a:t>Converted cleaned text into numerical features using TF-IDF/Count Vectorizer for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242192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B6D7D-FA53-CE94-7ED0-A65AE09C5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4492" y="818707"/>
            <a:ext cx="9429307" cy="1711842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0F172A"/>
                </a:solidFill>
                <a:latin typeface="+mn-lt"/>
              </a:rPr>
              <a:t>Exploratory Data Analysis (EDA)</a:t>
            </a:r>
            <a:br>
              <a:rPr lang="en-IN" b="1" dirty="0">
                <a:solidFill>
                  <a:srgbClr val="0F172A"/>
                </a:solidFill>
                <a:latin typeface="+mn-lt"/>
              </a:rPr>
            </a:br>
            <a:endParaRPr lang="en-IN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D4FE37-6AF2-E1B2-6BD6-08BE4646F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32837"/>
            <a:ext cx="10515600" cy="3944126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EDA steps: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Checked dataset size, structure, and data types.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Identified and handled missing values.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Analyzed the distribution of different conditions in the dataset.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Examined the distribution of ratings given by patients.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Identified the most frequently used drugs for each condition.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Analyzed the length of reviews and review frequency.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Visualized relationships between ratings and conditions using charts.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Generated word frequency / word cloud to identify commonly used words in reviews.</a:t>
            </a:r>
          </a:p>
          <a:p>
            <a:pPr marL="285750" indent="-285750">
              <a:spcBef>
                <a:spcPts val="600"/>
              </a:spcBef>
            </a:pPr>
            <a:r>
              <a:rPr lang="en-US" sz="2000" dirty="0">
                <a:solidFill>
                  <a:srgbClr val="475569"/>
                </a:solidFill>
              </a:rPr>
              <a:t>Checked class imbalance among selected conditions.</a:t>
            </a:r>
          </a:p>
          <a:p>
            <a:endParaRPr lang="en-IN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860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1672A-4B95-48F8-866D-F7015CF1E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Condition Distribution(EDA)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78A0A-6B6C-CEB1-ED58-684A630457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95900" y="3105150"/>
            <a:ext cx="957066" cy="3295649"/>
          </a:xfrm>
        </p:spPr>
        <p:txBody>
          <a:bodyPr/>
          <a:lstStyle/>
          <a:p>
            <a:endParaRPr lang="en-IN" sz="2000" dirty="0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300B94BC-1E77-31AA-A863-9016C5DCF03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746250"/>
            <a:ext cx="10814050" cy="4654549"/>
          </a:xfrm>
        </p:spPr>
      </p:pic>
    </p:spTree>
    <p:extLst>
      <p:ext uri="{BB962C8B-B14F-4D97-AF65-F5344CB8AC3E}">
        <p14:creationId xmlns:p14="http://schemas.microsoft.com/office/powerpoint/2010/main" val="552795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B3C89-DDE9-D7BC-CFEE-FEB67A8F4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Rating Distribution(EDA)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C9DAE-1372-7D72-676D-7A39A4E180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90688"/>
            <a:ext cx="5257800" cy="4486275"/>
          </a:xfrm>
        </p:spPr>
        <p:txBody>
          <a:bodyPr/>
          <a:lstStyle/>
          <a:p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28D1F4-A749-9B3D-2542-43C09C9FBC3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517650"/>
            <a:ext cx="10369550" cy="4876800"/>
          </a:xfrm>
        </p:spPr>
      </p:pic>
    </p:spTree>
    <p:extLst>
      <p:ext uri="{BB962C8B-B14F-4D97-AF65-F5344CB8AC3E}">
        <p14:creationId xmlns:p14="http://schemas.microsoft.com/office/powerpoint/2010/main" val="2668361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F67665-5CCE-E857-C285-04EC354F8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40661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Word Cloud of Patient Reviews(EDA)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526A6-B55B-10F1-A533-E4ACA5A71F1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43500" y="2444750"/>
            <a:ext cx="876300" cy="393700"/>
          </a:xfrm>
        </p:spPr>
        <p:txBody>
          <a:bodyPr/>
          <a:lstStyle/>
          <a:p>
            <a:endParaRPr lang="en-IN" sz="20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E65381B-9206-8DF1-8924-A048E33AF8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500" y="1441450"/>
            <a:ext cx="10147300" cy="4311650"/>
          </a:xfrm>
        </p:spPr>
      </p:pic>
    </p:spTree>
    <p:extLst>
      <p:ext uri="{BB962C8B-B14F-4D97-AF65-F5344CB8AC3E}">
        <p14:creationId xmlns:p14="http://schemas.microsoft.com/office/powerpoint/2010/main" val="13277730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38A21-4316-4190-CA69-F6A0D5E28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056" y="365125"/>
            <a:ext cx="8461744" cy="13255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Model Building Overview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5BD7E2-2B9E-6D58-F375-5B0C0982B09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endParaRPr lang="en-US" sz="2400" dirty="0">
              <a:solidFill>
                <a:schemeClr val="accent2"/>
              </a:solidFill>
            </a:endParaRPr>
          </a:p>
          <a:p>
            <a:r>
              <a:rPr lang="en-US" sz="2000" dirty="0" err="1"/>
              <a:t>ThConverted</a:t>
            </a:r>
            <a:r>
              <a:rPr lang="en-US" sz="2000" dirty="0"/>
              <a:t> preprocessed review text into numerical features using TF-IDF Vectorization.</a:t>
            </a:r>
          </a:p>
          <a:p>
            <a:r>
              <a:rPr lang="en-US" sz="2000" dirty="0"/>
              <a:t>Split the dataset into training and testing sets.</a:t>
            </a:r>
          </a:p>
          <a:p>
            <a:r>
              <a:rPr lang="en-US" sz="2000" dirty="0"/>
              <a:t>Applied classification algorithms such as Logistic Regression, Naïve Bayes, and Random Forest.</a:t>
            </a:r>
          </a:p>
          <a:p>
            <a:r>
              <a:rPr lang="en-US" sz="2000" dirty="0"/>
              <a:t>Trained models using the training dataset.</a:t>
            </a:r>
          </a:p>
          <a:p>
            <a:r>
              <a:rPr lang="en-US" sz="2000" dirty="0"/>
              <a:t>Evaluated model performance on the testing dataset using accuracy, precision, recall, and F1-score.</a:t>
            </a:r>
          </a:p>
          <a:p>
            <a:r>
              <a:rPr lang="en-US" sz="2000" dirty="0"/>
              <a:t>Compared different models and selected the best-performing model for deployment.</a:t>
            </a:r>
          </a:p>
          <a:p>
            <a:r>
              <a:rPr lang="en-US" sz="2000" dirty="0"/>
              <a:t>Saved the final trained model for prediction in the web application.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757151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53BBD-1BDF-C888-1A9C-C952A36C4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6567"/>
            <a:ext cx="10515600" cy="1116418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Machine Learning Models 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426CD4-A591-870E-E314-650DCCC966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45758"/>
            <a:ext cx="5181600" cy="4231205"/>
          </a:xfrm>
        </p:spPr>
        <p:txBody>
          <a:bodyPr/>
          <a:lstStyle/>
          <a:p>
            <a:r>
              <a:rPr lang="en-US" sz="2000" dirty="0"/>
              <a:t>Logistic Regression – Used for text classification of patient conditions.</a:t>
            </a:r>
          </a:p>
          <a:p>
            <a:r>
              <a:rPr lang="en-US" sz="2000" dirty="0"/>
              <a:t>Naïve Bayes (Multinomial Naïve Bayes) – Effective for NLP-based text classification tasks.</a:t>
            </a:r>
          </a:p>
          <a:p>
            <a:r>
              <a:rPr lang="en-US" sz="2000" dirty="0"/>
              <a:t>Random Forest Classifier – Used to improve prediction accuracy using ensemble learning.</a:t>
            </a:r>
          </a:p>
          <a:p>
            <a:r>
              <a:rPr lang="en-US" sz="2000" dirty="0"/>
              <a:t>Support Vector Machine (SVM) (if used) – Helps in accurate classification of text data.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1992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403EE-0D54-2E3E-409F-AA7F9BD7DA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4734" y="-74427"/>
            <a:ext cx="9089065" cy="1190846"/>
          </a:xfrm>
        </p:spPr>
        <p:txBody>
          <a:bodyPr>
            <a:normAutofit/>
          </a:bodyPr>
          <a:lstStyle/>
          <a:p>
            <a:r>
              <a:rPr lang="en-IN" sz="4000" b="1" dirty="0">
                <a:latin typeface="+mn-lt"/>
              </a:rPr>
              <a:t>Text Vectorization using TF-IDF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2891F-BE5B-3417-1ADE-068D3B2F4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87226" y="1116419"/>
            <a:ext cx="5934740" cy="5134972"/>
          </a:xfrm>
        </p:spPr>
        <p:txBody>
          <a:bodyPr>
            <a:normAutofit/>
          </a:bodyPr>
          <a:lstStyle/>
          <a:p>
            <a:r>
              <a:rPr lang="en-US" sz="2000" dirty="0"/>
              <a:t>TF-IDF (Term Frequency – Inverse Document Frequency) converts text data into numerical format.</a:t>
            </a:r>
          </a:p>
          <a:p>
            <a:r>
              <a:rPr lang="en-US" sz="2000" dirty="0"/>
              <a:t>It measures the importance of a word in a review relative to the entire dataset.</a:t>
            </a:r>
          </a:p>
          <a:p>
            <a:r>
              <a:rPr lang="en-US" sz="2000" dirty="0"/>
              <a:t>Words that appear frequently in a review but rarely across other reviews get higher importance.</a:t>
            </a:r>
          </a:p>
          <a:p>
            <a:r>
              <a:rPr lang="en-US" sz="2000" dirty="0"/>
              <a:t>Common words that appear in many reviews receive lower weights.</a:t>
            </a:r>
          </a:p>
          <a:p>
            <a:r>
              <a:rPr lang="en-US" sz="2000" dirty="0"/>
              <a:t>Cleaned and preprocessed review text is passed to the TF-IDF Vectorizer.</a:t>
            </a:r>
          </a:p>
          <a:p>
            <a:r>
              <a:rPr lang="en-US" sz="2000" dirty="0"/>
              <a:t>The vectorizer transforms each review into a numerical feature vector.</a:t>
            </a:r>
          </a:p>
          <a:p>
            <a:r>
              <a:rPr lang="en-US" sz="2000" dirty="0"/>
              <a:t>These numerical vectors are used as input for machine learning classification models.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284530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31D5-D6E4-928A-8D2E-823DC1994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45218" y="1"/>
            <a:ext cx="8408581" cy="1329069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Best Model Selection</a:t>
            </a:r>
            <a:endParaRPr lang="en-IN" sz="4000" b="1" dirty="0">
              <a:latin typeface="+mn-lt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42D653F-6195-08FC-F35C-99CE5FFE959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49" y="933451"/>
            <a:ext cx="5587999" cy="3070106"/>
          </a:xfrm>
        </p:spPr>
      </p:pic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82F1837D-10F1-53AF-97FD-7B612AC06EF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900" y="906043"/>
            <a:ext cx="5588000" cy="3097514"/>
          </a:xfr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B73BE34-468D-76C7-64DF-4C4E9C33F6F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4405453"/>
            <a:ext cx="5676900" cy="231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8753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A596-A22D-3BFF-72AA-F25828230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4586" y="365126"/>
            <a:ext cx="8420802" cy="102774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Deployment </a:t>
            </a:r>
            <a:endParaRPr lang="en-IN" sz="4000" b="1" dirty="0">
              <a:latin typeface="+mn-lt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D41B26-FE07-A78F-80B6-C99F238516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477927"/>
            <a:ext cx="5157787" cy="499730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accent2"/>
                </a:solidFill>
              </a:rPr>
              <a:t>1 .Model Deployment Overview</a:t>
            </a:r>
            <a:endParaRPr lang="en-IN" b="0" dirty="0">
              <a:solidFill>
                <a:schemeClr val="accent2"/>
              </a:solidFill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EE9AFC-A2E8-BB95-A1E8-E1F01819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062718"/>
            <a:ext cx="4997486" cy="464642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2000" dirty="0"/>
              <a:t>The best-performing trained model was saved using pickle/</a:t>
            </a:r>
            <a:r>
              <a:rPr lang="en-US" sz="2000" dirty="0" err="1"/>
              <a:t>joblib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A web application was developed using Flask / </a:t>
            </a:r>
            <a:r>
              <a:rPr lang="en-US" sz="2000" dirty="0" err="1"/>
              <a:t>Streamlit</a:t>
            </a:r>
            <a:r>
              <a:rPr lang="en-US" sz="2000" dirty="0"/>
              <a:t>.</a:t>
            </a:r>
          </a:p>
          <a:p>
            <a:pPr marL="0" indent="0">
              <a:buNone/>
            </a:pPr>
            <a:r>
              <a:rPr lang="en-US" sz="2000" dirty="0"/>
              <a:t>The application accepts user input (patient review text).</a:t>
            </a:r>
          </a:p>
          <a:p>
            <a:pPr marL="0" indent="0">
              <a:buNone/>
            </a:pPr>
            <a:r>
              <a:rPr lang="en-US" sz="2000" dirty="0"/>
              <a:t>Input text is preprocessed and converted using the TF-IDF vectorizer.</a:t>
            </a:r>
          </a:p>
          <a:p>
            <a:pPr marL="0" indent="0">
              <a:buNone/>
            </a:pPr>
            <a:r>
              <a:rPr lang="en-US" sz="2000" dirty="0"/>
              <a:t>The trained model predicts the patient’s medical condition based on the input review.</a:t>
            </a:r>
          </a:p>
          <a:p>
            <a:pPr marL="0" indent="0">
              <a:buNone/>
            </a:pPr>
            <a:r>
              <a:rPr lang="en-US" sz="2000" dirty="0"/>
              <a:t>The predicted result is displayed to the user through the web interface.</a:t>
            </a:r>
          </a:p>
          <a:p>
            <a:pPr marL="0" indent="0">
              <a:buNone/>
            </a:pPr>
            <a:r>
              <a:rPr lang="en-US" sz="2000" dirty="0"/>
              <a:t>The application can be hosted on platforms such as Heroku / Local Server / Cloud for real-time use.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08FDEB-51E9-7B77-CA26-FD567504D8D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997575" y="1477927"/>
            <a:ext cx="5357813" cy="499731"/>
          </a:xfrm>
        </p:spPr>
        <p:txBody>
          <a:bodyPr>
            <a:normAutofit/>
          </a:bodyPr>
          <a:lstStyle/>
          <a:p>
            <a:r>
              <a:rPr lang="en-US" b="0" dirty="0">
                <a:solidFill>
                  <a:schemeClr val="accent2"/>
                </a:solidFill>
              </a:rPr>
              <a:t>3. Web Application Output</a:t>
            </a:r>
            <a:endParaRPr lang="en-IN" b="0" dirty="0">
              <a:solidFill>
                <a:schemeClr val="accent2"/>
              </a:solidFill>
            </a:endParaRP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5D8CCD18-E3E3-CC52-17DD-86E86347F89D}"/>
              </a:ext>
            </a:extLst>
          </p:cNvPr>
          <p:cNvPicPr>
            <a:picLocks noGrp="1" noChangeAspect="1"/>
          </p:cNvPicPr>
          <p:nvPr>
            <p:ph sz="quarter" idx="4"/>
          </p:nvPr>
        </p:nvPicPr>
        <p:blipFill>
          <a:blip r:embed="rId2"/>
          <a:stretch>
            <a:fillRect/>
          </a:stretch>
        </p:blipFill>
        <p:spPr>
          <a:xfrm>
            <a:off x="5930900" y="1465378"/>
            <a:ext cx="6049261" cy="5027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102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E770C5-6070-43D6-2D0A-027B15B59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47776" y="365125"/>
            <a:ext cx="9206023" cy="103837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+mn-lt"/>
              </a:rPr>
              <a:t> Conclusion </a:t>
            </a:r>
            <a:endParaRPr lang="en-IN" sz="4000" b="1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18D7CA-C4EF-51BA-7C51-97397C2C9F2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648047"/>
            <a:ext cx="5181600" cy="4528916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>
                <a:solidFill>
                  <a:schemeClr val="accent2"/>
                </a:solidFill>
              </a:rPr>
              <a:t>Conclusion</a:t>
            </a:r>
          </a:p>
          <a:p>
            <a:r>
              <a:rPr lang="en-US" sz="2000" dirty="0"/>
              <a:t>  NLP and machine learning techniques were successfully used to analyze patient drug reviews and classify medical conditions.</a:t>
            </a:r>
          </a:p>
          <a:p>
            <a:r>
              <a:rPr lang="en-US" sz="2000" dirty="0"/>
              <a:t>Text preprocessing and TF-IDF vectorization helped convert textual data into numerical features for model training.</a:t>
            </a:r>
          </a:p>
          <a:p>
            <a:r>
              <a:rPr lang="en-US" sz="2000" dirty="0"/>
              <a:t>Multiple models were evaluated, and Linear SVM achieved the highest accuracy, making it the final selected model.</a:t>
            </a:r>
          </a:p>
          <a:p>
            <a:r>
              <a:rPr lang="en-US" sz="2000" dirty="0"/>
              <a:t>The developed system accurately predicts conditions such as Depression, High Blood Pressure, and Type-2 Diabetes.</a:t>
            </a:r>
          </a:p>
          <a:p>
            <a:r>
              <a:rPr lang="en-US" sz="2000" dirty="0"/>
              <a:t>The final model was deployed as a web application, enabling real-time prediction and practical usage.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36971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054A3-08CE-53DC-DC34-D5B8FC9EC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6752" y="1860698"/>
            <a:ext cx="8887047" cy="2775097"/>
          </a:xfrm>
        </p:spPr>
        <p:txBody>
          <a:bodyPr>
            <a:normAutofit/>
          </a:bodyPr>
          <a:lstStyle/>
          <a:p>
            <a:r>
              <a:rPr lang="en-US" sz="8000" b="1" dirty="0">
                <a:latin typeface="Algerian" panose="04020705040A02060702" pitchFamily="82" charset="0"/>
              </a:rPr>
              <a:t>THANK YOU..!!</a:t>
            </a:r>
            <a:endParaRPr lang="en-IN" sz="8000" b="1" dirty="0">
              <a:latin typeface="Algerian" panose="04020705040A020607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01453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1131</TotalTime>
  <Words>949</Words>
  <Application>Microsoft Office PowerPoint</Application>
  <PresentationFormat>Widescreen</PresentationFormat>
  <Paragraphs>111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Algerian</vt:lpstr>
      <vt:lpstr>Arial</vt:lpstr>
      <vt:lpstr>Calibri</vt:lpstr>
      <vt:lpstr>Calibri Light</vt:lpstr>
      <vt:lpstr>Office Theme</vt:lpstr>
      <vt:lpstr>Patients condition Classification using drugs reviews (NLP Project)</vt:lpstr>
      <vt:lpstr>Groups Members and Mentors Name</vt:lpstr>
      <vt:lpstr>Problem Statememt</vt:lpstr>
      <vt:lpstr>Project Objectives</vt:lpstr>
      <vt:lpstr>Dataset Overview</vt:lpstr>
      <vt:lpstr>Data Preprocessing</vt:lpstr>
      <vt:lpstr>Exploratory Data Analysis (EDA) </vt:lpstr>
      <vt:lpstr>Condition Distribution(EDA)</vt:lpstr>
      <vt:lpstr>Rating Distribution(EDA)</vt:lpstr>
      <vt:lpstr>Word Cloud of Patient Reviews(EDA)</vt:lpstr>
      <vt:lpstr>Model Building Overview</vt:lpstr>
      <vt:lpstr>Machine Learning Models </vt:lpstr>
      <vt:lpstr>Text Vectorization using TF-IDF</vt:lpstr>
      <vt:lpstr>Best Model Selection</vt:lpstr>
      <vt:lpstr>Deployment </vt:lpstr>
      <vt:lpstr> Conclusion </vt:lpstr>
      <vt:lpstr>THANK YOU..!!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Admin</dc:creator>
  <cp:lastModifiedBy>mahesh allu</cp:lastModifiedBy>
  <cp:revision>10</cp:revision>
  <dcterms:created xsi:type="dcterms:W3CDTF">2026-01-22T10:33:21Z</dcterms:created>
  <dcterms:modified xsi:type="dcterms:W3CDTF">2026-02-09T15:45:43Z</dcterms:modified>
</cp:coreProperties>
</file>