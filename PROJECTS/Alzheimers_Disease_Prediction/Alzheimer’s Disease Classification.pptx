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8" r:id="rId6"/>
    <p:sldId id="260" r:id="rId7"/>
    <p:sldId id="264" r:id="rId8"/>
    <p:sldId id="275" r:id="rId9"/>
    <p:sldId id="276" r:id="rId10"/>
    <p:sldId id="277" r:id="rId11"/>
    <p:sldId id="278" r:id="rId12"/>
    <p:sldId id="279" r:id="rId13"/>
    <p:sldId id="281" r:id="rId14"/>
    <p:sldId id="280" r:id="rId15"/>
    <p:sldId id="282" r:id="rId16"/>
    <p:sldId id="283" r:id="rId17"/>
    <p:sldId id="284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 snapToObjects="1">
      <p:cViewPr>
        <p:scale>
          <a:sx n="75" d="100"/>
          <a:sy n="75" d="100"/>
        </p:scale>
        <p:origin x="250" y="1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3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ight sky with mountains far away on the horizo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Alzheimer’s Disease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76282"/>
            <a:ext cx="7197726" cy="14054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Using Machine Learning to Predict Early-Stage Alzheimer’s</a:t>
            </a: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138287"/>
            <a:ext cx="6164653" cy="645735"/>
          </a:xfrm>
        </p:spPr>
        <p:txBody>
          <a:bodyPr>
            <a:no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Introduction to Alzheimer’s Disease</a:t>
            </a:r>
            <a:endParaRPr lang="ru-RU" sz="32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6B505-7FEC-E94A-29FE-C7ADCE717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799" y="2176544"/>
            <a:ext cx="6164653" cy="508104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Progressive Disorder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Neurological condition affecting memory, thinking, and behavior.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Severely disrupts daily life and cognitive function.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Timing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Early detection is critical to slowing disease progression.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Machine learning offers tools to assist in automated, early diagnosis.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35101F86-B4A2-D23B-EFF6-E3AFCBF5CA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l="13875" r="138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652B-B439-4AB5-8773-417F1E05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B401AB-A484-3373-F8F0-ACEF966F2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is often time-consuming, subjective, and costly.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symptoms are frequently ignored or misdiagnosed as normal aging.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an automated, data-driven prediction system.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Goal: accurately predict Alzheimer’s using patient clinical data.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9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Project 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04877-84E5-694C-1597-5302C0A71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aim is to develop a robust machine learning system.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Build: Develop an ML model to classify patient data.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Identify: Accurately distinguish between Alzheimer’s and non-Alzheimer’s cases.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 Evaluate multiple algorithms (SVM, Random Forest, etc.).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Select: Deploy the highest performing model for prediction.</a:t>
            </a:r>
          </a:p>
        </p:txBody>
      </p:sp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55DE-F937-5304-C8F7-DA19250A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25605-1A17-F3AF-E2F5-F512A036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609601"/>
            <a:ext cx="10131425" cy="51816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based on a dataset of 2,149 patients (ages 60–90).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demographic details (Age, Gender) and clinical indicators.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crucial ‘Diagnosis’ target column.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for Supervised Learning classification tasks.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89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8765-570E-0390-F46E-1C6DA96CF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14400"/>
            <a:ext cx="6164653" cy="119888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Target Variable: Diagnosis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F7EFF-A8FC-733E-DE69-639C1A18E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306320"/>
            <a:ext cx="6164653" cy="249428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Binary Classification problem.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patterns to predict: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0: No Alzheimer’s (Negative)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Alzheimer’s Detected (Positive)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CC017D0-086E-F5DA-A894-14CB281F287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053" r="21053"/>
          <a:stretch>
            <a:fillRect/>
          </a:stretch>
        </p:blipFill>
        <p:spPr>
          <a:xfrm>
            <a:off x="7535863" y="914400"/>
            <a:ext cx="397033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3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442311-D036-2A70-0417-214BBE591D3E}"/>
              </a:ext>
            </a:extLst>
          </p:cNvPr>
          <p:cNvSpPr/>
          <p:nvPr/>
        </p:nvSpPr>
        <p:spPr>
          <a:xfrm>
            <a:off x="1087120" y="1686560"/>
            <a:ext cx="4714240" cy="1412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Removed irrelevant columns (IDs) and non-informative data.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552E77-8987-B4C7-0BB5-EC9D0F5B4A4F}"/>
              </a:ext>
            </a:extLst>
          </p:cNvPr>
          <p:cNvSpPr/>
          <p:nvPr/>
        </p:nvSpPr>
        <p:spPr>
          <a:xfrm>
            <a:off x="6390642" y="1686560"/>
            <a:ext cx="4531360" cy="1412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Checked and handled missing values to prevent errors.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85C8D-94F9-8B7C-3329-99990E263D1F}"/>
              </a:ext>
            </a:extLst>
          </p:cNvPr>
          <p:cNvSpPr txBox="1"/>
          <p:nvPr/>
        </p:nvSpPr>
        <p:spPr>
          <a:xfrm>
            <a:off x="1087120" y="426720"/>
            <a:ext cx="62890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3200" dirty="0">
                <a:latin typeface="Arial Black" panose="020B0A04020102020204" pitchFamily="34" charset="0"/>
              </a:rPr>
              <a:t>DATA PREPROCESSING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8458AA-41E4-E38F-8000-2D1FAAFFC47D}"/>
              </a:ext>
            </a:extLst>
          </p:cNvPr>
          <p:cNvSpPr/>
          <p:nvPr/>
        </p:nvSpPr>
        <p:spPr>
          <a:xfrm>
            <a:off x="1087120" y="3759200"/>
            <a:ext cx="4714240" cy="1412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Split dataset into Features (X) and Target (y).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A3E782-5A82-F811-FFD8-EDD6CDB52327}"/>
              </a:ext>
            </a:extLst>
          </p:cNvPr>
          <p:cNvSpPr/>
          <p:nvPr/>
        </p:nvSpPr>
        <p:spPr>
          <a:xfrm>
            <a:off x="6390642" y="3683000"/>
            <a:ext cx="4531360" cy="14884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Formatted data structures for model intake.</a:t>
            </a:r>
          </a:p>
        </p:txBody>
      </p:sp>
    </p:spTree>
    <p:extLst>
      <p:ext uri="{BB962C8B-B14F-4D97-AF65-F5344CB8AC3E}">
        <p14:creationId xmlns:p14="http://schemas.microsoft.com/office/powerpoint/2010/main" val="20625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B87B-49F9-6BEF-ABE6-E5479F8A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482600"/>
            <a:ext cx="6164653" cy="13716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Exploratory Data Analysis (EDA)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C1C6EA0-AB0B-A874-F187-6E35179470B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86" r="1986"/>
          <a:stretch>
            <a:fillRect/>
          </a:stretch>
        </p:blipFill>
        <p:spPr>
          <a:xfrm>
            <a:off x="6684963" y="2022475"/>
            <a:ext cx="4989512" cy="34639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6DD8D-DFC4-78FF-13A1-BED0D069F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021840"/>
            <a:ext cx="6164653" cy="37287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allows us to unearth patterns before modeling: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distributions of clinical features.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Class Balance (Ratio of 0s to 1s).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visualization plots (histograms, heatmaps).Identified key trends and correlations.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163024-9A44-402F-4ED9-4F613943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Key Insights from EDA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D2FA1-4E36-E3E7-EC3F-57263E2D0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-274320"/>
            <a:ext cx="10131425" cy="73659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Correlation: Specific features showed strong relationships with the diagnosis outcome.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Balance: Class distribution analysis indicated need for careful handling to avoid bias.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Data required scaling as feature magnitudes varied significantly.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 No major data leakage was observed during the initial scan.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02F7-64D5-0E68-80F6-B5ACD6EE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D003EE-9712-59D5-0756-9DC027582015}"/>
              </a:ext>
            </a:extLst>
          </p:cNvPr>
          <p:cNvSpPr/>
          <p:nvPr/>
        </p:nvSpPr>
        <p:spPr>
          <a:xfrm>
            <a:off x="1087120" y="1686560"/>
            <a:ext cx="4714240" cy="1412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Used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Z-score scaling applied to features like Age, BMI, and MMSE scores.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EDDB3B-2B9F-DBBB-6061-A24343EA37D4}"/>
              </a:ext>
            </a:extLst>
          </p:cNvPr>
          <p:cNvSpPr/>
          <p:nvPr/>
        </p:nvSpPr>
        <p:spPr>
          <a:xfrm>
            <a:off x="6390642" y="1686560"/>
            <a:ext cx="4531360" cy="1412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Specific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Crucial for Logistic Regression &amp; SVM to prevent large-magnitude features from dominating.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47CD5-B140-052E-DEA8-0C2E48DCCC53}"/>
              </a:ext>
            </a:extLst>
          </p:cNvPr>
          <p:cNvSpPr txBox="1"/>
          <p:nvPr/>
        </p:nvSpPr>
        <p:spPr>
          <a:xfrm>
            <a:off x="995680" y="426720"/>
            <a:ext cx="62890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3200" dirty="0">
                <a:latin typeface="Arial Black" panose="020B0A04020102020204" pitchFamily="34" charset="0"/>
              </a:rPr>
              <a:t>Feature Scaling Strategy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6D1C6F-32FF-7A2A-FED4-BD03FE15A13E}"/>
              </a:ext>
            </a:extLst>
          </p:cNvPr>
          <p:cNvSpPr/>
          <p:nvPr/>
        </p:nvSpPr>
        <p:spPr>
          <a:xfrm>
            <a:off x="1087120" y="3759200"/>
            <a:ext cx="4714240" cy="1412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Exemption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Random Forest and XGBoost used original values to preserve split interpretability.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B2536D-9E24-8532-A658-EED42144ED86}"/>
              </a:ext>
            </a:extLst>
          </p:cNvPr>
          <p:cNvSpPr/>
          <p:nvPr/>
        </p:nvSpPr>
        <p:spPr>
          <a:xfrm>
            <a:off x="6390642" y="3683000"/>
            <a:ext cx="4531360" cy="14884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&amp; Demographic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Ensured diverse metrics (cognitive scores vs. blood pressure) are on the same scale.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36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1812-37AA-0422-B2F6-43AE2F93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63F252-ACE6-F6F4-FE8A-C011FEC7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1708"/>
            <a:ext cx="10131425" cy="206586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Machine Learning Models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C52FB5-0AC2-5FEC-E2F6-70FE19D61734}"/>
              </a:ext>
            </a:extLst>
          </p:cNvPr>
          <p:cNvSpPr/>
          <p:nvPr/>
        </p:nvSpPr>
        <p:spPr>
          <a:xfrm>
            <a:off x="1676400" y="1844040"/>
            <a:ext cx="3017520" cy="10566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FE9DB0-733C-4D5D-3C67-D2260381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773" y="1844040"/>
            <a:ext cx="3036071" cy="107298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744256-EFE2-EAB5-D217-40BE40419226}"/>
              </a:ext>
            </a:extLst>
          </p:cNvPr>
          <p:cNvSpPr/>
          <p:nvPr/>
        </p:nvSpPr>
        <p:spPr>
          <a:xfrm>
            <a:off x="1676400" y="3253721"/>
            <a:ext cx="3017520" cy="1056640"/>
          </a:xfrm>
          <a:prstGeom prst="roundRect">
            <a:avLst>
              <a:gd name="adj" fmla="val 14744"/>
            </a:avLst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E2C8FB-3748-3639-196E-F2EFD12E9321}"/>
              </a:ext>
            </a:extLst>
          </p:cNvPr>
          <p:cNvSpPr/>
          <p:nvPr/>
        </p:nvSpPr>
        <p:spPr>
          <a:xfrm>
            <a:off x="1676400" y="4792134"/>
            <a:ext cx="3017520" cy="10566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C3DFBC-208B-3C4B-1F91-F70253795280}"/>
              </a:ext>
            </a:extLst>
          </p:cNvPr>
          <p:cNvSpPr/>
          <p:nvPr/>
        </p:nvSpPr>
        <p:spPr>
          <a:xfrm>
            <a:off x="6294120" y="4763978"/>
            <a:ext cx="3017520" cy="10566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002B57-8705-9A70-7089-C48F43556D8E}"/>
              </a:ext>
            </a:extLst>
          </p:cNvPr>
          <p:cNvSpPr/>
          <p:nvPr/>
        </p:nvSpPr>
        <p:spPr>
          <a:xfrm>
            <a:off x="6281305" y="3241040"/>
            <a:ext cx="3017520" cy="105664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8B595-17EC-C546-CE6A-5033D9BF8158}"/>
              </a:ext>
            </a:extLst>
          </p:cNvPr>
          <p:cNvSpPr txBox="1"/>
          <p:nvPr/>
        </p:nvSpPr>
        <p:spPr>
          <a:xfrm>
            <a:off x="1778000" y="2131843"/>
            <a:ext cx="2814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B820EF-8CC7-2B0D-FD53-751DA0BF9005}"/>
              </a:ext>
            </a:extLst>
          </p:cNvPr>
          <p:cNvSpPr txBox="1"/>
          <p:nvPr/>
        </p:nvSpPr>
        <p:spPr>
          <a:xfrm>
            <a:off x="6281305" y="2141527"/>
            <a:ext cx="274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10755-6CBB-015C-65C4-AF59B15CA02C}"/>
              </a:ext>
            </a:extLst>
          </p:cNvPr>
          <p:cNvSpPr txBox="1"/>
          <p:nvPr/>
        </p:nvSpPr>
        <p:spPr>
          <a:xfrm>
            <a:off x="7005205" y="3465298"/>
            <a:ext cx="278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7981EE-FFD0-A58B-D65C-BB6F7C180B90}"/>
              </a:ext>
            </a:extLst>
          </p:cNvPr>
          <p:cNvSpPr txBox="1"/>
          <p:nvPr/>
        </p:nvSpPr>
        <p:spPr>
          <a:xfrm>
            <a:off x="1778000" y="4876800"/>
            <a:ext cx="2865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3EE0F0-6080-1C6B-6E5F-3CCDC841D34A}"/>
              </a:ext>
            </a:extLst>
          </p:cNvPr>
          <p:cNvSpPr txBox="1"/>
          <p:nvPr/>
        </p:nvSpPr>
        <p:spPr>
          <a:xfrm>
            <a:off x="6918960" y="5019040"/>
            <a:ext cx="266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</a:p>
        </p:txBody>
      </p:sp>
    </p:spTree>
    <p:extLst>
      <p:ext uri="{BB962C8B-B14F-4D97-AF65-F5344CB8AC3E}">
        <p14:creationId xmlns:p14="http://schemas.microsoft.com/office/powerpoint/2010/main" val="3046650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4F5206-621B-440F-6424-EA7DBAD6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14400"/>
            <a:ext cx="6164653" cy="71120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Evaluation Metrics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ADB9184-609C-EAD9-FC7D-AC4350E647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516" r="13516"/>
          <a:stretch>
            <a:fillRect/>
          </a:stretch>
        </p:blipFill>
        <p:spPr>
          <a:xfrm>
            <a:off x="7535863" y="1858963"/>
            <a:ext cx="3970337" cy="362743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AFEFF-E550-F20B-E183-ADC70A3BE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174240"/>
            <a:ext cx="6164653" cy="3982720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were assessed using comprehensive statistical measures: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Overall correctness.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Curve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Ability to distinguish between classes.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Precision, Recall, and F1-Score.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Check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Comparing Train vs. Test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70443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F1B8-A78D-F5B3-09D4-83EE0604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Problems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D003-5657-BFA3-4C8B-8B04915AA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14307"/>
            <a:ext cx="10131425" cy="452289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appropriate application of feature scaling.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Encountering overfitting in tree-based models.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selecting the single best model among many candidates.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complex ROC-AUC results accurately.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2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3319-09EF-0DCD-8EE9-5EA60C07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Solutions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201E-BF8B-C8C9-8205-B81B6C335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Scaling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Applied scaling only for Logistic Regression and SVM where distance matters.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Methods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Utilized Random Forest and Boosting to reduce overfitting.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Focus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Prioritized ROC-AUC over simple accuracy for better class balance insights.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Selection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Chose the model with the most balanced performance characteristics.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15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37261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5137" y="3734041"/>
            <a:ext cx="3641725" cy="120032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7759" y="1246292"/>
            <a:ext cx="7197726" cy="58250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AC9C3-B477-1E58-EFBE-9CFC80611D6F}"/>
              </a:ext>
            </a:extLst>
          </p:cNvPr>
          <p:cNvSpPr txBox="1"/>
          <p:nvPr/>
        </p:nvSpPr>
        <p:spPr>
          <a:xfrm>
            <a:off x="1087120" y="2437666"/>
            <a:ext cx="1041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effectively predicts Alzheimer’s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LightGBM demonstrated the best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other models like SVM and Random Forest. Proper preprocessing was key to this success.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TotalTime>96</TotalTime>
  <Words>660</Words>
  <Application>Microsoft Office PowerPoint</Application>
  <PresentationFormat>Widescreen</PresentationFormat>
  <Paragraphs>82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Wingdings</vt:lpstr>
      <vt:lpstr>Celestial</vt:lpstr>
      <vt:lpstr>Alzheimer’s Disease Classification</vt:lpstr>
      <vt:lpstr>Introduction to Alzheimer’s Disease</vt:lpstr>
      <vt:lpstr>Problem Statement</vt:lpstr>
      <vt:lpstr>Project Objective</vt:lpstr>
      <vt:lpstr>DATASET OVERVIEW</vt:lpstr>
      <vt:lpstr>Target Variable: Diagnosis</vt:lpstr>
      <vt:lpstr>PowerPoint Presentation</vt:lpstr>
      <vt:lpstr>Exploratory Data Analysis (EDA)</vt:lpstr>
      <vt:lpstr>Key Insights from EDA</vt:lpstr>
      <vt:lpstr>PowerPoint Presentation</vt:lpstr>
      <vt:lpstr>Machine Learning Models</vt:lpstr>
      <vt:lpstr>Evaluation Metrics</vt:lpstr>
      <vt:lpstr>Problems Faced</vt:lpstr>
      <vt:lpstr>Solutions Implemented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Deepti Singh</dc:creator>
  <cp:lastModifiedBy>Deepti Singh</cp:lastModifiedBy>
  <cp:revision>1</cp:revision>
  <dcterms:created xsi:type="dcterms:W3CDTF">2025-12-28T18:55:38Z</dcterms:created>
  <dcterms:modified xsi:type="dcterms:W3CDTF">2025-12-28T20:32:18Z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